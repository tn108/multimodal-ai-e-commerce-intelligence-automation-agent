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3B4D8E">
              <a:alpha val="50000"/>
            </a:srgbClr>
          </a:solidFill>
          <a:ln w="12700">
            <a:solidFill>
              <a:srgbClr val="3B4D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840480"/>
            <a:ext cx="1828800" cy="1828800"/>
          </a:xfrm>
          <a:prstGeom prst="ellipse">
            <a:avLst/>
          </a:prstGeom>
          <a:solidFill>
            <a:srgbClr val="3B4D8E">
              <a:alpha val="40000"/>
            </a:srgbClr>
          </a:solidFill>
          <a:ln w="12700">
            <a:solidFill>
              <a:srgbClr val="3B4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PROGRESS REPORT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AI E-commerce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Automation Agent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Talha Nasir  |  Week 1 of Project  |  Status: ✓ Completed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7512" y="4160520"/>
            <a:ext cx="1261872" cy="347472"/>
          </a:xfrm>
          <a:prstGeom prst="roundRect">
            <a:avLst>
              <a:gd name="adj" fmla="val 21053"/>
            </a:avLst>
          </a:prstGeom>
          <a:solidFill>
            <a:srgbClr val="3B4D8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41605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93392" y="4160520"/>
            <a:ext cx="1261872" cy="347472"/>
          </a:xfrm>
          <a:prstGeom prst="roundRect">
            <a:avLst>
              <a:gd name="adj" fmla="val 21053"/>
            </a:avLst>
          </a:prstGeom>
          <a:solidFill>
            <a:srgbClr val="3B4D8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93392" y="41605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19272" y="4160520"/>
            <a:ext cx="1261872" cy="347472"/>
          </a:xfrm>
          <a:prstGeom prst="roundRect">
            <a:avLst>
              <a:gd name="adj" fmla="val 21053"/>
            </a:avLst>
          </a:prstGeom>
          <a:solidFill>
            <a:srgbClr val="3B4D8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41605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45152" y="4160520"/>
            <a:ext cx="1261872" cy="347472"/>
          </a:xfrm>
          <a:prstGeom prst="roundRect">
            <a:avLst>
              <a:gd name="adj" fmla="val 21053"/>
            </a:avLst>
          </a:prstGeom>
          <a:solidFill>
            <a:srgbClr val="3B4D8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41605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71032" y="4160520"/>
            <a:ext cx="1261872" cy="347472"/>
          </a:xfrm>
          <a:prstGeom prst="roundRect">
            <a:avLst>
              <a:gd name="adj" fmla="val 21053"/>
            </a:avLst>
          </a:prstGeom>
          <a:solidFill>
            <a:srgbClr val="3B4D8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71032" y="41605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96912" y="4160520"/>
            <a:ext cx="1261872" cy="347472"/>
          </a:xfrm>
          <a:prstGeom prst="roundRect">
            <a:avLst>
              <a:gd name="adj" fmla="val 21053"/>
            </a:avLst>
          </a:prstGeom>
          <a:solidFill>
            <a:srgbClr val="3B4D8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6912" y="41605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Our Solution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FF0F0"/>
          </a:solidFill>
          <a:ln w="12700">
            <a:solidFill>
              <a:srgbClr val="E8B4B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fails when users use different words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4871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"sneakers" ≠ "shoes" in traditional systems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314553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with only an image have no way to search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80390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catalog creation is slow and error-prone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15968" y="2926080"/>
            <a:ext cx="512064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open"/>
          </a:ln>
        </p:spPr>
      </p:sp>
      <p:sp>
        <p:nvSpPr>
          <p:cNvPr id="11" name="Shape 9"/>
          <p:cNvSpPr/>
          <p:nvPr/>
        </p:nvSpPr>
        <p:spPr>
          <a:xfrm>
            <a:off x="4846320" y="118872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0FFF4"/>
          </a:solidFill>
          <a:ln w="12700">
            <a:solidFill>
              <a:srgbClr val="A8D5B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A7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understands meaning, not just words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0" y="24871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 → VLM analysis → vector search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314553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Analyze-and-save: catalogs built from photos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380390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Qdrant: scalable, API-first architecture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Working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1554480"/>
            <a:ext cx="1234440" cy="1280160"/>
          </a:xfrm>
          <a:prstGeom prst="roundRect">
            <a:avLst>
              <a:gd name="adj" fmla="val 8889"/>
            </a:avLst>
          </a:prstGeom>
          <a:solidFill>
            <a:srgbClr val="3B4D8E"/>
          </a:solidFill>
          <a:ln w="12700">
            <a:solidFill>
              <a:srgbClr val="3B4D8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16642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" y="21488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426464" y="2194560"/>
            <a:ext cx="73152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554480"/>
            <a:ext cx="1234440" cy="1280160"/>
          </a:xfrm>
          <a:prstGeom prst="roundRect">
            <a:avLst>
              <a:gd name="adj" fmla="val 8889"/>
            </a:avLst>
          </a:prstGeom>
          <a:solidFill>
            <a:srgbClr val="374BB0"/>
          </a:solidFill>
          <a:ln w="12700">
            <a:solidFill>
              <a:srgbClr val="374BB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08760" y="16642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08760" y="21488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Analysis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52344" y="2194560"/>
            <a:ext cx="73152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1554480"/>
            <a:ext cx="1234440" cy="1280160"/>
          </a:xfrm>
          <a:prstGeom prst="roundRect">
            <a:avLst>
              <a:gd name="adj" fmla="val 88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34640" y="16642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834640" y="21488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078224" y="2194560"/>
            <a:ext cx="73152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60520" y="1554480"/>
            <a:ext cx="1234440" cy="1280160"/>
          </a:xfrm>
          <a:prstGeom prst="roundRect">
            <a:avLst>
              <a:gd name="adj" fmla="val 888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60520" y="16642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160520" y="21488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04104" y="2194560"/>
            <a:ext cx="73152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0" y="1554480"/>
            <a:ext cx="1234440" cy="1280160"/>
          </a:xfrm>
          <a:prstGeom prst="roundRect">
            <a:avLst>
              <a:gd name="adj" fmla="val 888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0" y="16642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0" y="21488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29984" y="2194560"/>
            <a:ext cx="73152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1554480"/>
            <a:ext cx="1234440" cy="1280160"/>
          </a:xfrm>
          <a:prstGeom prst="roundRect">
            <a:avLst>
              <a:gd name="adj" fmla="val 888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12280" y="16642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12280" y="21488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2880" y="306324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8EFFF"/>
          </a:solidFill>
          <a:ln w="12700">
            <a:solidFill>
              <a:srgbClr val="C7D3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127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Search Mode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34107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 → Embedding → Qdrant → Results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306324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8EFFF"/>
          </a:solidFill>
          <a:ln w="12700">
            <a:solidFill>
              <a:srgbClr val="C7D3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127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Search Mode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37760" y="34107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→ VLM → Text → Embedding → Qdrant → Results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7-Day Progress Timeline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0F4FF"/>
          </a:solidFill>
          <a:ln w="6350">
            <a:solidFill>
              <a:srgbClr val="C7D3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914400" cy="749808"/>
          </a:xfrm>
          <a:prstGeom prst="roundRect">
            <a:avLst>
              <a:gd name="adj" fmla="val 9756"/>
            </a:avLst>
          </a:prstGeom>
          <a:solidFill>
            <a:srgbClr val="3B4D8E"/>
          </a:solidFill>
          <a:ln w="12700">
            <a:solidFill>
              <a:srgbClr val="3B4D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80160" y="11978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Setup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1536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design, stack selection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05740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0F4FF"/>
          </a:solidFill>
          <a:ln w="6350">
            <a:solidFill>
              <a:srgbClr val="C7D3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057400"/>
            <a:ext cx="914400" cy="749808"/>
          </a:xfrm>
          <a:prstGeom prst="roundRect">
            <a:avLst>
              <a:gd name="adj" fmla="val 9756"/>
            </a:avLst>
          </a:prstGeom>
          <a:solidFill>
            <a:srgbClr val="374BB0"/>
          </a:solidFill>
          <a:ln w="12700">
            <a:solidFill>
              <a:srgbClr val="374B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5740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80160" y="21122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2450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Swagger, Uvicorn server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0F4FF"/>
          </a:solidFill>
          <a:ln w="6350">
            <a:solidFill>
              <a:srgbClr val="C7D3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71800"/>
            <a:ext cx="914400" cy="749808"/>
          </a:xfrm>
          <a:prstGeom prst="roundRect">
            <a:avLst>
              <a:gd name="adj" fmla="val 975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7180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80160" y="30266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+ Semantic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3364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DB, embeddings, Docker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88620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0F4FF"/>
          </a:solidFill>
          <a:ln w="6350">
            <a:solidFill>
              <a:srgbClr val="C7D3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886200"/>
            <a:ext cx="914400" cy="749808"/>
          </a:xfrm>
          <a:prstGeom prst="roundRect">
            <a:avLst>
              <a:gd name="adj" fmla="val 975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88620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80160" y="39410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Integration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80160" y="42793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qwen2.5vl:3b via Ollama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114300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0F4FF"/>
          </a:solidFill>
          <a:ln w="6350">
            <a:solidFill>
              <a:srgbClr val="C7D3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143000"/>
            <a:ext cx="914400" cy="749808"/>
          </a:xfrm>
          <a:prstGeom prst="roundRect">
            <a:avLst>
              <a:gd name="adj" fmla="val 975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14300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11978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Analyze-and-Save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15000" y="1536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→ product auto-creation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205740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0F4FF"/>
          </a:solidFill>
          <a:ln w="6350">
            <a:solidFill>
              <a:srgbClr val="C7D3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057400"/>
            <a:ext cx="914400" cy="749808"/>
          </a:xfrm>
          <a:prstGeom prst="roundRect">
            <a:avLst>
              <a:gd name="adj" fmla="val 9756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05740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15000" y="21122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15000" y="2450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value, differentiation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297180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0F4FF"/>
          </a:solidFill>
          <a:ln w="6350">
            <a:solidFill>
              <a:srgbClr val="C7D3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971800"/>
            <a:ext cx="914400" cy="749808"/>
          </a:xfrm>
          <a:prstGeom prst="roundRect">
            <a:avLst>
              <a:gd name="adj" fmla="val 975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297180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15000" y="30266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Test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15000" y="3364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validation + fixes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Faced &amp; How We Solved Them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44168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2161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49808" y="138988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Path Error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Run uvicorn from /backend directory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344168"/>
            <a:ext cx="256032" cy="25603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84648" y="12161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184648" y="138988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Running on CPU (slow)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783080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Image compression + num_predict + keep_alive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377440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578608"/>
            <a:ext cx="256032" cy="256032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4505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49808" y="262432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Pillow Package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017520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pip install pillow (import as PIL)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377440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578608"/>
            <a:ext cx="256032" cy="25603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4648" y="24505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184648" y="262432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Scene Contamination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017520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Prompt engineering: ignore background/furniture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611880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813048"/>
            <a:ext cx="256032" cy="256032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368503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49808" y="385876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Dict-in-List Output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4251960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safe_join() + safe_text() normalization helpers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611880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813048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84648" y="368503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184648" y="385876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Not Running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4251960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docker start qdrant + docker ps verification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chosen for a specific reason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463040"/>
            <a:ext cx="2651760" cy="1298448"/>
          </a:xfrm>
          <a:prstGeom prst="roundRect">
            <a:avLst>
              <a:gd name="adj" fmla="val 7042"/>
            </a:avLst>
          </a:prstGeom>
          <a:solidFill>
            <a:srgbClr val="3B4D8E">
              <a:alpha val="70000"/>
            </a:srgbClr>
          </a:solidFill>
          <a:ln w="1016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965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26771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async, auto Swagger docs, ML-friendly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108960" y="1463040"/>
            <a:ext cx="2651760" cy="1298448"/>
          </a:xfrm>
          <a:prstGeom prst="roundRect">
            <a:avLst>
              <a:gd name="adj" fmla="val 7042"/>
            </a:avLst>
          </a:prstGeom>
          <a:solidFill>
            <a:srgbClr val="3B4D8E">
              <a:alpha val="70000"/>
            </a:srgbClr>
          </a:solidFill>
          <a:ln w="1016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108960" y="1965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226771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similarity search over product embeddings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897880" y="1463040"/>
            <a:ext cx="2651760" cy="1298448"/>
          </a:xfrm>
          <a:prstGeom prst="roundRect">
            <a:avLst>
              <a:gd name="adj" fmla="val 7042"/>
            </a:avLst>
          </a:prstGeom>
          <a:solidFill>
            <a:srgbClr val="3B4D8E">
              <a:alpha val="70000"/>
            </a:srgbClr>
          </a:solidFill>
          <a:ln w="1016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97880" y="1965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89320" y="226771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meaning to searchable numerical vectors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2651760" cy="1298448"/>
          </a:xfrm>
          <a:prstGeom prst="roundRect">
            <a:avLst>
              <a:gd name="adj" fmla="val 7042"/>
            </a:avLst>
          </a:prstGeom>
          <a:solidFill>
            <a:srgbClr val="3B4D8E">
              <a:alpha val="70000"/>
            </a:srgbClr>
          </a:solidFill>
          <a:ln w="1016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0040" y="3429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7307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qwen2.5vl:3b — image → structured product metadata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08960" y="2926080"/>
            <a:ext cx="2651760" cy="1298448"/>
          </a:xfrm>
          <a:prstGeom prst="roundRect">
            <a:avLst>
              <a:gd name="adj" fmla="val 7042"/>
            </a:avLst>
          </a:prstGeom>
          <a:solidFill>
            <a:srgbClr val="3B4D8E">
              <a:alpha val="70000"/>
            </a:srgbClr>
          </a:solidFill>
          <a:ln w="1016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108960" y="3429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37307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VLM locally, no cloud API cost during dev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897880" y="2926080"/>
            <a:ext cx="2651760" cy="1298448"/>
          </a:xfrm>
          <a:prstGeom prst="roundRect">
            <a:avLst>
              <a:gd name="adj" fmla="val 7042"/>
            </a:avLst>
          </a:prstGeom>
          <a:solidFill>
            <a:srgbClr val="3B4D8E">
              <a:alpha val="70000"/>
            </a:srgbClr>
          </a:solidFill>
          <a:ln w="10160">
            <a:solidFill>
              <a:srgbClr val="4FC3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🐳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897880" y="3429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89320" y="37307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Qdrant container, reproducible environment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Validation — Test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F0F4FF"/>
          </a:solidFill>
          <a:ln w="12700">
            <a:solidFill>
              <a:srgbClr val="C7D3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98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 —  Brown Shirt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📸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product_type: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965960" y="228600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633472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965960" y="2633472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Wear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980944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965960" y="2980944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3328416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965960" y="3328416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67588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965960" y="3675888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 Fit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402336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965960" y="402336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Blend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4343400"/>
            <a:ext cx="3657600" cy="237744"/>
          </a:xfrm>
          <a:prstGeom prst="roundRect">
            <a:avLst>
              <a:gd name="adj" fmla="val 2307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3434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Score: 0.9048  ✓ PASS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1188720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F0F4FF"/>
          </a:solidFill>
          <a:ln w="12700">
            <a:solidFill>
              <a:srgbClr val="C7D3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83480" y="1298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  —  Brown Handbag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1691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👜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983480" y="228600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product_type: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46520" y="228600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Handbag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83480" y="2633472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46520" y="2633472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83480" y="2980944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46520" y="2980944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Unisex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83480" y="3328416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446520" y="3328416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83480" y="367588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46520" y="3675888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Saddle Bag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83480" y="402336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446520" y="402336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Leather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983480" y="4343400"/>
            <a:ext cx="3657600" cy="237744"/>
          </a:xfrm>
          <a:prstGeom prst="roundRect">
            <a:avLst>
              <a:gd name="adj" fmla="val 2307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43434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Score: 0.9237  ✓ PASS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 Status &amp; Week 2 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1155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WEEK 1 COMPLETED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84048" y="157276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5361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4048" y="197510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93852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 Database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237744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34086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Semantic Search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277977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7432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VLM Analysis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318211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14553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Search Pipeline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358444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5478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Analyze-and-Save Flow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398678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95020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Speed Optimization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43891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43525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Version Control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1097280"/>
            <a:ext cx="0" cy="3840480"/>
          </a:xfrm>
          <a:prstGeom prst="line">
            <a:avLst/>
          </a:prstGeom>
          <a:noFill/>
          <a:ln w="15240">
            <a:solidFill>
              <a:srgbClr val="E5E7EB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754880" y="11155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B4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WEEK 2 ROADMAP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73168" y="15727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B4D8E">
              <a:alpha val="40000"/>
            </a:srgbClr>
          </a:solidFill>
          <a:ln w="10160">
            <a:solidFill>
              <a:srgbClr val="3B4D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15361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React frontend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73168" y="197510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B4D8E">
              <a:alpha val="40000"/>
            </a:srgbClr>
          </a:solidFill>
          <a:ln w="10160">
            <a:solidFill>
              <a:srgbClr val="3B4D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19385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frontend to FastAPI APIs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73168" y="237744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B4D8E">
              <a:alpha val="40000"/>
            </a:srgbClr>
          </a:solidFill>
          <a:ln w="10160">
            <a:solidFill>
              <a:srgbClr val="3B4D8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23408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search UI with live results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73168" y="2779776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B4D8E">
              <a:alpha val="40000"/>
            </a:srgbClr>
          </a:solidFill>
          <a:ln w="10160">
            <a:solidFill>
              <a:srgbClr val="3B4D8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10912" y="27432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 UI with drag-and-drop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73168" y="318211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B4D8E">
              <a:alpha val="40000"/>
            </a:srgbClr>
          </a:solidFill>
          <a:ln w="10160">
            <a:solidFill>
              <a:srgbClr val="3B4D8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314553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VLM analysis output to users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73168" y="358444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B4D8E">
              <a:alpha val="40000"/>
            </a:srgbClr>
          </a:solidFill>
          <a:ln w="10160">
            <a:solidFill>
              <a:srgbClr val="3B4D8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10912" y="35478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loading state for VLM processing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73168" y="398678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B4D8E">
              <a:alpha val="40000"/>
            </a:srgbClr>
          </a:solidFill>
          <a:ln w="10160">
            <a:solidFill>
              <a:srgbClr val="3B4D8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10912" y="39502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duplicate products in DB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73168" y="438912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B4D8E">
              <a:alpha val="40000"/>
            </a:srgbClr>
          </a:solidFill>
          <a:ln w="10160">
            <a:solidFill>
              <a:srgbClr val="3B4D8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10912" y="43525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end-to-end demo flow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3B4D8E">
              <a:alpha val="45000"/>
            </a:srgbClr>
          </a:solidFill>
          <a:ln w="12700">
            <a:solidFill>
              <a:srgbClr val="3B4D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3B4D8E">
              <a:alpha val="35000"/>
            </a:srgbClr>
          </a:solidFill>
          <a:ln w="12700">
            <a:solidFill>
              <a:srgbClr val="3B4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an AI product is more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 calling a model.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work is connecting the model with APIs, vector storage,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engineering, error handling, and robust data pipelines.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97764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✓ Complete  |  Week 2 → Frontend &amp; Demo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Talha Nasir  |  Multimodal AI E-commerce Intelligence Automation Agent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Progress Report – Multimodal AI E-commerce</dc:title>
  <dc:subject>PptxGenJS Presentation</dc:subject>
  <dc:creator>Talha Nasir</dc:creator>
  <cp:lastModifiedBy>Talha Nasir</cp:lastModifiedBy>
  <cp:revision>1</cp:revision>
  <dcterms:created xsi:type="dcterms:W3CDTF">2026-06-26T10:45:42Z</dcterms:created>
  <dcterms:modified xsi:type="dcterms:W3CDTF">2026-06-26T10:45:42Z</dcterms:modified>
</cp:coreProperties>
</file>